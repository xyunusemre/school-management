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_rels/presentation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70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6"/>
          <p:cNvSpPr>
            <a:spLocks noGrp="1"/>
          </p:cNvSpPr>
          <p:nvPr>
            <p:ph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7"/>
          <p:cNvSpPr>
            <a:spLocks noGrp="1"/>
          </p:cNvSpPr>
          <p:nvPr>
            <p:ph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2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7" name="PlaceHolder 5"/>
          <p:cNvSpPr>
            <a:spLocks noGrp="1"/>
          </p:cNvSpPr>
          <p:nvPr>
            <p:ph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8" name="PlaceHolder 6"/>
          <p:cNvSpPr>
            <a:spLocks noGrp="1"/>
          </p:cNvSpPr>
          <p:nvPr>
            <p:ph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9" name="PlaceHolder 7"/>
          <p:cNvSpPr>
            <a:spLocks noGrp="1"/>
          </p:cNvSpPr>
          <p:nvPr>
            <p:ph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2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6" name="PlaceHolder 4"/>
          <p:cNvSpPr>
            <a:spLocks noGrp="1"/>
          </p:cNvSpPr>
          <p:nvPr>
            <p:ph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7" name="PlaceHolder 5"/>
          <p:cNvSpPr>
            <a:spLocks noGrp="1"/>
          </p:cNvSpPr>
          <p:nvPr>
            <p:ph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8" name="PlaceHolder 6"/>
          <p:cNvSpPr>
            <a:spLocks noGrp="1"/>
          </p:cNvSpPr>
          <p:nvPr>
            <p:ph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9" name="PlaceHolder 7"/>
          <p:cNvSpPr>
            <a:spLocks noGrp="1"/>
          </p:cNvSpPr>
          <p:nvPr>
            <p:ph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6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0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4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1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2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7" name="PlaceHolder 5"/>
          <p:cNvSpPr>
            <a:spLocks noGrp="1"/>
          </p:cNvSpPr>
          <p:nvPr>
            <p:ph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8" name="PlaceHolder 6"/>
          <p:cNvSpPr>
            <a:spLocks noGrp="1"/>
          </p:cNvSpPr>
          <p:nvPr>
            <p:ph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9" name="PlaceHolder 7"/>
          <p:cNvSpPr>
            <a:spLocks noGrp="1"/>
          </p:cNvSpPr>
          <p:nvPr>
            <p:ph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6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0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4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2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6" name="PlaceHolder 4"/>
          <p:cNvSpPr>
            <a:spLocks noGrp="1"/>
          </p:cNvSpPr>
          <p:nvPr>
            <p:ph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7" name="PlaceHolder 5"/>
          <p:cNvSpPr>
            <a:spLocks noGrp="1"/>
          </p:cNvSpPr>
          <p:nvPr>
            <p:ph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8" name="PlaceHolder 6"/>
          <p:cNvSpPr>
            <a:spLocks noGrp="1"/>
          </p:cNvSpPr>
          <p:nvPr>
            <p:ph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9" name="PlaceHolder 7"/>
          <p:cNvSpPr>
            <a:spLocks noGrp="1"/>
          </p:cNvSpPr>
          <p:nvPr>
            <p:ph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6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5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0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4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1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2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6" name="PlaceHolder 4"/>
          <p:cNvSpPr>
            <a:spLocks noGrp="1"/>
          </p:cNvSpPr>
          <p:nvPr>
            <p:ph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7" name="PlaceHolder 5"/>
          <p:cNvSpPr>
            <a:spLocks noGrp="1"/>
          </p:cNvSpPr>
          <p:nvPr>
            <p:ph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8" name="PlaceHolder 6"/>
          <p:cNvSpPr>
            <a:spLocks noGrp="1"/>
          </p:cNvSpPr>
          <p:nvPr>
            <p:ph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9" name="PlaceHolder 7"/>
          <p:cNvSpPr>
            <a:spLocks noGrp="1"/>
          </p:cNvSpPr>
          <p:nvPr>
            <p:ph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0" y="0"/>
            <a:ext cx="10063800" cy="92880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CustomShape 2"/>
          <p:cNvSpPr/>
          <p:nvPr/>
        </p:nvSpPr>
        <p:spPr>
          <a:xfrm>
            <a:off x="0" y="6620400"/>
            <a:ext cx="10063800" cy="92880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ustomShape 1"/>
          <p:cNvSpPr/>
          <p:nvPr/>
        </p:nvSpPr>
        <p:spPr>
          <a:xfrm>
            <a:off x="0" y="0"/>
            <a:ext cx="10063800" cy="92880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" name="CustomShape 2"/>
          <p:cNvSpPr/>
          <p:nvPr/>
        </p:nvSpPr>
        <p:spPr>
          <a:xfrm>
            <a:off x="0" y="6620400"/>
            <a:ext cx="10063800" cy="92880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</a:t>
            </a:r>
            <a:r>
              <a:rPr b="0" lang="en-US" sz="4400" spc="-1" strike="noStrike">
                <a:latin typeface="Arial"/>
              </a:rPr>
              <a:t>to edit </a:t>
            </a:r>
            <a:r>
              <a:rPr b="0" lang="en-US" sz="4400" spc="-1" strike="noStrike">
                <a:latin typeface="Arial"/>
              </a:rPr>
              <a:t>the </a:t>
            </a:r>
            <a:r>
              <a:rPr b="0" lang="en-US" sz="4400" spc="-1" strike="noStrike">
                <a:latin typeface="Arial"/>
              </a:rPr>
              <a:t>title </a:t>
            </a:r>
            <a:r>
              <a:rPr b="0" lang="en-US" sz="4400" spc="-1" strike="noStrike">
                <a:latin typeface="Arial"/>
              </a:rPr>
              <a:t>text </a:t>
            </a:r>
            <a:r>
              <a:rPr b="0" lang="en-US" sz="4400" spc="-1" strike="noStrike">
                <a:latin typeface="Arial"/>
              </a:rPr>
              <a:t>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CustomShape 1"/>
          <p:cNvSpPr/>
          <p:nvPr/>
        </p:nvSpPr>
        <p:spPr>
          <a:xfrm>
            <a:off x="0" y="0"/>
            <a:ext cx="10063800" cy="92880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CustomShape 2"/>
          <p:cNvSpPr/>
          <p:nvPr/>
        </p:nvSpPr>
        <p:spPr>
          <a:xfrm>
            <a:off x="0" y="6620400"/>
            <a:ext cx="10063800" cy="92880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0" y="0"/>
            <a:ext cx="10063800" cy="92880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CustomShape 2"/>
          <p:cNvSpPr/>
          <p:nvPr/>
        </p:nvSpPr>
        <p:spPr>
          <a:xfrm>
            <a:off x="0" y="6620400"/>
            <a:ext cx="10063800" cy="92880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CustomShape 1"/>
          <p:cNvSpPr/>
          <p:nvPr/>
        </p:nvSpPr>
        <p:spPr>
          <a:xfrm>
            <a:off x="0" y="0"/>
            <a:ext cx="10063800" cy="92880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CustomShape 2"/>
          <p:cNvSpPr/>
          <p:nvPr/>
        </p:nvSpPr>
        <p:spPr>
          <a:xfrm>
            <a:off x="0" y="6620400"/>
            <a:ext cx="10063800" cy="92880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CustomShape 1"/>
          <p:cNvSpPr/>
          <p:nvPr/>
        </p:nvSpPr>
        <p:spPr>
          <a:xfrm>
            <a:off x="0" y="0"/>
            <a:ext cx="10063800" cy="92880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1" name="CustomShape 2"/>
          <p:cNvSpPr/>
          <p:nvPr/>
        </p:nvSpPr>
        <p:spPr>
          <a:xfrm>
            <a:off x="0" y="6620400"/>
            <a:ext cx="10063800" cy="92880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CustomShape 1"/>
          <p:cNvSpPr/>
          <p:nvPr/>
        </p:nvSpPr>
        <p:spPr>
          <a:xfrm>
            <a:off x="0" y="0"/>
            <a:ext cx="10063800" cy="92880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CustomShape 2"/>
          <p:cNvSpPr/>
          <p:nvPr/>
        </p:nvSpPr>
        <p:spPr>
          <a:xfrm>
            <a:off x="0" y="6620400"/>
            <a:ext cx="10063800" cy="92880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</a:t>
            </a:r>
            <a:r>
              <a:rPr b="0" lang="en-US" sz="4400" spc="-1" strike="noStrike">
                <a:latin typeface="Arial"/>
              </a:rPr>
              <a:t>to edit </a:t>
            </a:r>
            <a:r>
              <a:rPr b="0" lang="en-US" sz="4400" spc="-1" strike="noStrike">
                <a:latin typeface="Arial"/>
              </a:rPr>
              <a:t>the </a:t>
            </a:r>
            <a:r>
              <a:rPr b="0" lang="en-US" sz="4400" spc="-1" strike="noStrike">
                <a:latin typeface="Arial"/>
              </a:rPr>
              <a:t>title </a:t>
            </a:r>
            <a:r>
              <a:rPr b="0" lang="en-US" sz="4400" spc="-1" strike="noStrike">
                <a:latin typeface="Arial"/>
              </a:rPr>
              <a:t>text </a:t>
            </a:r>
            <a:r>
              <a:rPr b="0" lang="en-US" sz="4400" spc="-1" strike="noStrike">
                <a:latin typeface="Arial"/>
              </a:rPr>
              <a:t>forma</a:t>
            </a:r>
            <a:r>
              <a:rPr b="0" lang="en-US" sz="4400" spc="-1" strike="noStrike">
                <a:latin typeface="Arial"/>
              </a:rPr>
              <a:t>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2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4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4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4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4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6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7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CustomShape 1"/>
          <p:cNvSpPr/>
          <p:nvPr/>
        </p:nvSpPr>
        <p:spPr>
          <a:xfrm>
            <a:off x="987480" y="1828800"/>
            <a:ext cx="8144280" cy="43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006699"/>
                </a:solidFill>
                <a:latin typeface="Arial"/>
                <a:ea typeface="DejaVu Sans"/>
              </a:rPr>
              <a:t>SWE 304 </a:t>
            </a:r>
            <a:endParaRPr b="0" lang="en-US" sz="4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5983b0"/>
                </a:solidFill>
                <a:latin typeface="Arial"/>
                <a:ea typeface="DejaVu Sans"/>
              </a:rPr>
              <a:t>Development and Operations</a:t>
            </a:r>
            <a:br>
              <a:rPr sz="1800"/>
            </a:br>
            <a:r>
              <a:rPr b="1" lang="en-US" sz="4400" spc="-1" strike="noStrike">
                <a:solidFill>
                  <a:srgbClr val="5983b0"/>
                </a:solidFill>
                <a:latin typeface="Arial"/>
                <a:ea typeface="DejaVu Sans"/>
              </a:rPr>
              <a:t>DevOps</a:t>
            </a:r>
            <a:endParaRPr b="0" lang="en-US" sz="4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US" sz="4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006699"/>
                </a:solidFill>
                <a:latin typeface="Arial"/>
                <a:ea typeface="DejaVu Sans"/>
              </a:rPr>
              <a:t>Week – 14</a:t>
            </a:r>
            <a:endParaRPr b="0" lang="en-US" sz="36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355269"/>
                </a:solidFill>
                <a:latin typeface="Arial"/>
                <a:ea typeface="DejaVu Sans"/>
              </a:rPr>
              <a:t>Kubernetes – Azure Cloud</a:t>
            </a: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006699"/>
                </a:solidFill>
                <a:latin typeface="Arial"/>
                <a:ea typeface="DejaVu Sans"/>
              </a:rPr>
              <a:t>Ahmet Özmen</a:t>
            </a:r>
            <a:endParaRPr b="0" lang="en-US" sz="3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006699"/>
                </a:solidFill>
                <a:latin typeface="Arial"/>
                <a:ea typeface="DejaVu Sans"/>
              </a:rPr>
              <a:t>2024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CustomShape 1"/>
          <p:cNvSpPr/>
          <p:nvPr/>
        </p:nvSpPr>
        <p:spPr>
          <a:xfrm>
            <a:off x="504000" y="301320"/>
            <a:ext cx="9058680" cy="62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Overview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82" name="CustomShape 2"/>
          <p:cNvSpPr/>
          <p:nvPr/>
        </p:nvSpPr>
        <p:spPr>
          <a:xfrm>
            <a:off x="548640" y="1371600"/>
            <a:ext cx="9058680" cy="437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66cc"/>
                </a:solidFill>
                <a:latin typeface="Arial"/>
                <a:ea typeface="DejaVu Sans"/>
              </a:rPr>
              <a:t>Objectives </a:t>
            </a:r>
            <a:endParaRPr b="0" lang="en-US" sz="32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66cc"/>
                </a:solidFill>
                <a:latin typeface="Arial"/>
                <a:ea typeface="DejaVu Sans"/>
              </a:rPr>
              <a:t>Kubernetes Cloud deployment tools</a:t>
            </a:r>
            <a:endParaRPr b="0" lang="en-US" sz="3200" spc="-1" strike="noStrike"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66cc"/>
                </a:solidFill>
                <a:latin typeface="Arial"/>
                <a:ea typeface="DejaVu Sans"/>
              </a:rPr>
              <a:t>AKS on Azure, EKS on Amazon  </a:t>
            </a:r>
            <a:endParaRPr b="0" lang="en-US" sz="32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66cc"/>
                </a:solidFill>
                <a:latin typeface="Arial"/>
                <a:ea typeface="DejaVu Sans"/>
              </a:rPr>
              <a:t>Deploying applications on AKS and monitoring</a:t>
            </a:r>
            <a:endParaRPr b="0" lang="en-US" sz="32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66cc"/>
                </a:solidFill>
                <a:latin typeface="Arial"/>
                <a:ea typeface="DejaVu Sans"/>
              </a:rPr>
              <a:t>Examples</a:t>
            </a:r>
            <a:endParaRPr b="0" lang="en-US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buNone/>
            </a:pPr>
            <a:endParaRPr b="0" lang="en-US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CustomShape 1"/>
          <p:cNvSpPr/>
          <p:nvPr/>
        </p:nvSpPr>
        <p:spPr>
          <a:xfrm>
            <a:off x="504000" y="193320"/>
            <a:ext cx="9058680" cy="62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Objectives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84" name="CustomShape 2"/>
          <p:cNvSpPr/>
          <p:nvPr/>
        </p:nvSpPr>
        <p:spPr>
          <a:xfrm>
            <a:off x="438120" y="1139040"/>
            <a:ext cx="9058680" cy="437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66cc"/>
                </a:solidFill>
                <a:latin typeface="Arial"/>
                <a:ea typeface="DejaVu Sans"/>
              </a:rPr>
              <a:t>Who took this course can (should) answer the following questions:</a:t>
            </a:r>
            <a:endParaRPr b="0" lang="en-US" sz="32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66cc"/>
                </a:solidFill>
                <a:latin typeface="Arial"/>
                <a:ea typeface="DejaVu Sans"/>
              </a:rPr>
              <a:t>Use of Microsoft-Azure AKS for web app deployment and monitoring</a:t>
            </a:r>
            <a:endParaRPr b="0" lang="en-US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buNone/>
            </a:pPr>
            <a:endParaRPr b="0" lang="en-US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buNone/>
            </a:pPr>
            <a:endParaRPr b="0" lang="en-US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529200" y="-239400"/>
            <a:ext cx="9068760" cy="12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400" spc="-1" strike="noStrike">
                <a:latin typeface="Arial"/>
              </a:rPr>
              <a:t>Microsoft Azure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286" name="" descr=""/>
          <p:cNvPicPr/>
          <p:nvPr/>
        </p:nvPicPr>
        <p:blipFill>
          <a:blip r:embed="rId1"/>
          <a:stretch/>
        </p:blipFill>
        <p:spPr>
          <a:xfrm>
            <a:off x="457200" y="943200"/>
            <a:ext cx="9061200" cy="5693040"/>
          </a:xfrm>
          <a:prstGeom prst="rect">
            <a:avLst/>
          </a:prstGeom>
          <a:ln w="0">
            <a:solidFill>
              <a:srgbClr val="3465a4"/>
            </a:solidFill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" descr=""/>
          <p:cNvPicPr/>
          <p:nvPr/>
        </p:nvPicPr>
        <p:blipFill>
          <a:blip r:embed="rId1"/>
          <a:stretch/>
        </p:blipFill>
        <p:spPr>
          <a:xfrm>
            <a:off x="20880" y="1563120"/>
            <a:ext cx="9985680" cy="4379040"/>
          </a:xfrm>
          <a:prstGeom prst="rect">
            <a:avLst/>
          </a:prstGeom>
          <a:ln w="0">
            <a:solidFill>
              <a:srgbClr val="3465a4"/>
            </a:solidFill>
          </a:ln>
        </p:spPr>
      </p:pic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504000" y="-118800"/>
            <a:ext cx="9070560" cy="12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latin typeface="Arial"/>
              </a:rPr>
              <a:t>Creating Kubernetes Cluster</a:t>
            </a:r>
            <a:endParaRPr b="0" lang="en-US" sz="4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" descr=""/>
          <p:cNvPicPr/>
          <p:nvPr/>
        </p:nvPicPr>
        <p:blipFill>
          <a:blip r:embed="rId1"/>
          <a:stretch/>
        </p:blipFill>
        <p:spPr>
          <a:xfrm>
            <a:off x="2286000" y="228600"/>
            <a:ext cx="5556240" cy="7115760"/>
          </a:xfrm>
          <a:prstGeom prst="rect">
            <a:avLst/>
          </a:prstGeom>
          <a:ln w="0">
            <a:solidFill>
              <a:srgbClr val="3465a4"/>
            </a:solidFill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" descr=""/>
          <p:cNvPicPr/>
          <p:nvPr/>
        </p:nvPicPr>
        <p:blipFill>
          <a:blip r:embed="rId1"/>
          <a:stretch/>
        </p:blipFill>
        <p:spPr>
          <a:xfrm>
            <a:off x="135720" y="1371600"/>
            <a:ext cx="9692280" cy="5116320"/>
          </a:xfrm>
          <a:prstGeom prst="rect">
            <a:avLst/>
          </a:prstGeom>
          <a:ln w="0">
            <a:solidFill>
              <a:srgbClr val="3465a4"/>
            </a:solidFill>
          </a:ln>
        </p:spPr>
      </p:pic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504000" y="-130680"/>
            <a:ext cx="9070200" cy="12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latin typeface="Arial"/>
              </a:rPr>
              <a:t>Azure Kubernetes Cluster</a:t>
            </a:r>
            <a:endParaRPr b="0" lang="en-US" sz="4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529200" y="-118800"/>
            <a:ext cx="9070200" cy="12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latin typeface="Arial"/>
              </a:rPr>
              <a:t>Install az CLI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93" name=""/>
          <p:cNvSpPr/>
          <p:nvPr/>
        </p:nvSpPr>
        <p:spPr>
          <a:xfrm>
            <a:off x="259920" y="2103120"/>
            <a:ext cx="8486280" cy="60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2) sudo apt-get install ca-certificates curl apt-transport-https lsb-release gnupg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259920" y="2476800"/>
            <a:ext cx="374508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3) sudo mkdir -p /etc/apt/keyrings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95" name=""/>
          <p:cNvSpPr/>
          <p:nvPr/>
        </p:nvSpPr>
        <p:spPr>
          <a:xfrm>
            <a:off x="264600" y="2934000"/>
            <a:ext cx="9441720" cy="60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4) curl -sLS https://packages.microsoft.com/keys/microsoft.asc |     gpg --dearmor |     sudo tee /etc/apt/keyrings/microsoft.gpg &gt; /dev/null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96" name=""/>
          <p:cNvSpPr/>
          <p:nvPr/>
        </p:nvSpPr>
        <p:spPr>
          <a:xfrm>
            <a:off x="267480" y="3619800"/>
            <a:ext cx="5566320" cy="60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5) sudo chmod go+r /etc/apt/keyrings/microsoft.gpg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97" name=""/>
          <p:cNvSpPr/>
          <p:nvPr/>
        </p:nvSpPr>
        <p:spPr>
          <a:xfrm>
            <a:off x="235440" y="4187520"/>
            <a:ext cx="3648960" cy="60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6) AZ_REPO=$(lsb_release -cs)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235440" y="4590000"/>
            <a:ext cx="9592560" cy="11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7) echo "deb [arch=`dpkg --print-architecture` signed-by=/etc/apt/keyrings/microsoft.gpg] https://packages.microsoft.com/repos/azure-cli/ $AZ_REPO main" |     sudo tee /etc/apt/sources.list.d/azure-cli.list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99" name=""/>
          <p:cNvSpPr/>
          <p:nvPr/>
        </p:nvSpPr>
        <p:spPr>
          <a:xfrm>
            <a:off x="305280" y="5559120"/>
            <a:ext cx="2664720" cy="60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8) sudo apt-get update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>
            <a:off x="300960" y="6016320"/>
            <a:ext cx="3475440" cy="60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9) sudo apt-get install azure-cli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259920" y="1721520"/>
            <a:ext cx="2771280" cy="60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1) sudo apt-get update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02" name=""/>
          <p:cNvSpPr/>
          <p:nvPr/>
        </p:nvSpPr>
        <p:spPr>
          <a:xfrm>
            <a:off x="1027800" y="6822000"/>
            <a:ext cx="8163000" cy="60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(https://learn.microsoft.com/en-us/cli/azure/install-azure-cli-linux?pivots=apt)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03" name=""/>
          <p:cNvSpPr/>
          <p:nvPr/>
        </p:nvSpPr>
        <p:spPr>
          <a:xfrm>
            <a:off x="145080" y="1083240"/>
            <a:ext cx="9841320" cy="60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To control Azure Kube Cluster from local computer Azure-CLI has to be installed to local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computer: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504000" y="-345960"/>
            <a:ext cx="9069120" cy="125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latin typeface="Arial"/>
              </a:rPr>
              <a:t>Webapp deployment and service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305" name="" descr=""/>
          <p:cNvPicPr/>
          <p:nvPr/>
        </p:nvPicPr>
        <p:blipFill>
          <a:blip r:embed="rId1"/>
          <a:stretch/>
        </p:blipFill>
        <p:spPr>
          <a:xfrm>
            <a:off x="5715000" y="626400"/>
            <a:ext cx="4008240" cy="6713280"/>
          </a:xfrm>
          <a:prstGeom prst="rect">
            <a:avLst/>
          </a:prstGeom>
          <a:ln w="0">
            <a:solidFill>
              <a:srgbClr val="3465a4"/>
            </a:solidFill>
          </a:ln>
        </p:spPr>
      </p:pic>
      <p:pic>
        <p:nvPicPr>
          <p:cNvPr id="306" name="" descr=""/>
          <p:cNvPicPr/>
          <p:nvPr/>
        </p:nvPicPr>
        <p:blipFill>
          <a:blip r:embed="rId2"/>
          <a:stretch/>
        </p:blipFill>
        <p:spPr>
          <a:xfrm>
            <a:off x="685800" y="615240"/>
            <a:ext cx="4179600" cy="6770520"/>
          </a:xfrm>
          <a:prstGeom prst="rect">
            <a:avLst/>
          </a:prstGeom>
          <a:ln w="0">
            <a:solidFill>
              <a:srgbClr val="3465a4"/>
            </a:solidFill>
          </a:ln>
        </p:spPr>
      </p:pic>
      <p:sp>
        <p:nvSpPr>
          <p:cNvPr id="307" name=""/>
          <p:cNvSpPr/>
          <p:nvPr/>
        </p:nvSpPr>
        <p:spPr>
          <a:xfrm>
            <a:off x="948600" y="1578600"/>
            <a:ext cx="1828800" cy="360"/>
          </a:xfrm>
          <a:prstGeom prst="line">
            <a:avLst/>
          </a:prstGeom>
          <a:ln w="0">
            <a:solidFill>
              <a:srgbClr val="ff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08" name=""/>
          <p:cNvSpPr/>
          <p:nvPr/>
        </p:nvSpPr>
        <p:spPr>
          <a:xfrm>
            <a:off x="948600" y="2226600"/>
            <a:ext cx="1828800" cy="360"/>
          </a:xfrm>
          <a:prstGeom prst="line">
            <a:avLst/>
          </a:prstGeom>
          <a:ln w="0">
            <a:solidFill>
              <a:srgbClr val="ff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09" name=""/>
          <p:cNvSpPr/>
          <p:nvPr/>
        </p:nvSpPr>
        <p:spPr>
          <a:xfrm>
            <a:off x="948600" y="2406600"/>
            <a:ext cx="1828800" cy="360"/>
          </a:xfrm>
          <a:prstGeom prst="line">
            <a:avLst/>
          </a:prstGeom>
          <a:ln w="0">
            <a:solidFill>
              <a:srgbClr val="ff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10" name=""/>
          <p:cNvSpPr/>
          <p:nvPr/>
        </p:nvSpPr>
        <p:spPr>
          <a:xfrm>
            <a:off x="8001000" y="1600200"/>
            <a:ext cx="1712520" cy="8568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c9211e"/>
                </a:solidFill>
                <a:latin typeface="Arial"/>
                <a:ea typeface="DejaVu Sans"/>
              </a:rPr>
              <a:t>No changes!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c9211e"/>
                </a:solidFill>
                <a:latin typeface="Arial"/>
                <a:ea typeface="DejaVu Sans"/>
              </a:rPr>
              <a:t>Regarding last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c9211e"/>
                </a:solidFill>
                <a:latin typeface="Arial"/>
                <a:ea typeface="DejaVu Sans"/>
              </a:rPr>
              <a:t>week example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11" name=""/>
          <p:cNvSpPr/>
          <p:nvPr/>
        </p:nvSpPr>
        <p:spPr>
          <a:xfrm>
            <a:off x="2899080" y="1460880"/>
            <a:ext cx="912960" cy="99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1600" y="5400"/>
                </a:moveTo>
                <a:lnTo>
                  <a:pt x="5400" y="5400"/>
                </a:lnTo>
                <a:lnTo>
                  <a:pt x="5400" y="0"/>
                </a:lnTo>
                <a:lnTo>
                  <a:pt x="0" y="10800"/>
                </a:lnTo>
                <a:lnTo>
                  <a:pt x="5400" y="21600"/>
                </a:lnTo>
                <a:lnTo>
                  <a:pt x="5400" y="16200"/>
                </a:lnTo>
                <a:lnTo>
                  <a:pt x="21600" y="162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12" name=""/>
          <p:cNvSpPr/>
          <p:nvPr/>
        </p:nvSpPr>
        <p:spPr>
          <a:xfrm>
            <a:off x="2899440" y="2036880"/>
            <a:ext cx="912960" cy="99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1600" y="5400"/>
                </a:moveTo>
                <a:lnTo>
                  <a:pt x="5400" y="5400"/>
                </a:lnTo>
                <a:lnTo>
                  <a:pt x="5400" y="0"/>
                </a:lnTo>
                <a:lnTo>
                  <a:pt x="0" y="10800"/>
                </a:lnTo>
                <a:lnTo>
                  <a:pt x="5400" y="21600"/>
                </a:lnTo>
                <a:lnTo>
                  <a:pt x="5400" y="16200"/>
                </a:lnTo>
                <a:lnTo>
                  <a:pt x="21600" y="162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13" name=""/>
          <p:cNvSpPr/>
          <p:nvPr/>
        </p:nvSpPr>
        <p:spPr>
          <a:xfrm>
            <a:off x="2935800" y="2250000"/>
            <a:ext cx="912960" cy="990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21600" y="5400"/>
                </a:moveTo>
                <a:lnTo>
                  <a:pt x="5400" y="5400"/>
                </a:lnTo>
                <a:lnTo>
                  <a:pt x="5400" y="0"/>
                </a:lnTo>
                <a:lnTo>
                  <a:pt x="0" y="10800"/>
                </a:lnTo>
                <a:lnTo>
                  <a:pt x="5400" y="21600"/>
                </a:lnTo>
                <a:lnTo>
                  <a:pt x="5400" y="16200"/>
                </a:lnTo>
                <a:lnTo>
                  <a:pt x="21600" y="162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14" name=""/>
          <p:cNvSpPr/>
          <p:nvPr/>
        </p:nvSpPr>
        <p:spPr>
          <a:xfrm>
            <a:off x="3886200" y="1492200"/>
            <a:ext cx="1968480" cy="125100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c9211e"/>
                </a:solidFill>
                <a:latin typeface="Arial"/>
                <a:ea typeface="DejaVu Sans"/>
              </a:rPr>
              <a:t>These changes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c9211e"/>
                </a:solidFill>
                <a:latin typeface="Arial"/>
                <a:ea typeface="DejaVu Sans"/>
              </a:rPr>
              <a:t>should be done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c9211e"/>
                </a:solidFill>
                <a:latin typeface="Arial"/>
                <a:ea typeface="DejaVu Sans"/>
              </a:rPr>
              <a:t>to access the app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15" name=""/>
          <p:cNvSpPr/>
          <p:nvPr/>
        </p:nvSpPr>
        <p:spPr>
          <a:xfrm>
            <a:off x="2743200" y="2826720"/>
            <a:ext cx="2055960" cy="3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webapp-depl.yml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7904520" y="2803320"/>
            <a:ext cx="1767240" cy="3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db-depl.yml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" descr=""/>
          <p:cNvPicPr/>
          <p:nvPr/>
        </p:nvPicPr>
        <p:blipFill>
          <a:blip r:embed="rId1"/>
          <a:stretch/>
        </p:blipFill>
        <p:spPr>
          <a:xfrm>
            <a:off x="1196280" y="1408680"/>
            <a:ext cx="7685640" cy="4382280"/>
          </a:xfrm>
          <a:prstGeom prst="rect">
            <a:avLst/>
          </a:prstGeom>
          <a:ln w="0">
            <a:noFill/>
          </a:ln>
        </p:spPr>
      </p:pic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457200" y="-118800"/>
            <a:ext cx="9070200" cy="12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latin typeface="Arial"/>
              </a:rPr>
              <a:t>Azure login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19" name=""/>
          <p:cNvSpPr/>
          <p:nvPr/>
        </p:nvSpPr>
        <p:spPr>
          <a:xfrm>
            <a:off x="2514600" y="6054480"/>
            <a:ext cx="5241600" cy="34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You will be directed to web page for login process.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" descr=""/>
          <p:cNvPicPr/>
          <p:nvPr/>
        </p:nvPicPr>
        <p:blipFill>
          <a:blip r:embed="rId1"/>
          <a:stretch/>
        </p:blipFill>
        <p:spPr>
          <a:xfrm>
            <a:off x="300600" y="1143000"/>
            <a:ext cx="9070200" cy="783360"/>
          </a:xfrm>
          <a:prstGeom prst="rect">
            <a:avLst/>
          </a:prstGeom>
          <a:ln w="0">
            <a:noFill/>
          </a:ln>
        </p:spPr>
      </p:pic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529200" y="-118800"/>
            <a:ext cx="9070200" cy="12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latin typeface="Arial"/>
              </a:rPr>
              <a:t>Use of Azure Kubernetes cluster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322" name="" descr=""/>
          <p:cNvPicPr/>
          <p:nvPr/>
        </p:nvPicPr>
        <p:blipFill>
          <a:blip r:embed="rId2"/>
          <a:stretch/>
        </p:blipFill>
        <p:spPr>
          <a:xfrm>
            <a:off x="300600" y="2057400"/>
            <a:ext cx="8465400" cy="1378800"/>
          </a:xfrm>
          <a:prstGeom prst="rect">
            <a:avLst/>
          </a:prstGeom>
          <a:ln w="0">
            <a:noFill/>
          </a:ln>
        </p:spPr>
      </p:pic>
      <p:pic>
        <p:nvPicPr>
          <p:cNvPr id="323" name="" descr=""/>
          <p:cNvPicPr/>
          <p:nvPr/>
        </p:nvPicPr>
        <p:blipFill>
          <a:blip r:embed="rId3"/>
          <a:stretch/>
        </p:blipFill>
        <p:spPr>
          <a:xfrm>
            <a:off x="300600" y="3510000"/>
            <a:ext cx="8465400" cy="512280"/>
          </a:xfrm>
          <a:prstGeom prst="rect">
            <a:avLst/>
          </a:prstGeom>
          <a:ln w="0">
            <a:noFill/>
          </a:ln>
        </p:spPr>
      </p:pic>
      <p:pic>
        <p:nvPicPr>
          <p:cNvPr id="324" name="" descr=""/>
          <p:cNvPicPr/>
          <p:nvPr/>
        </p:nvPicPr>
        <p:blipFill>
          <a:blip r:embed="rId4"/>
          <a:stretch/>
        </p:blipFill>
        <p:spPr>
          <a:xfrm>
            <a:off x="264600" y="4127400"/>
            <a:ext cx="8465400" cy="1998000"/>
          </a:xfrm>
          <a:prstGeom prst="rect">
            <a:avLst/>
          </a:prstGeom>
          <a:ln w="0">
            <a:noFill/>
          </a:ln>
        </p:spPr>
      </p:pic>
      <p:pic>
        <p:nvPicPr>
          <p:cNvPr id="325" name="" descr=""/>
          <p:cNvPicPr/>
          <p:nvPr/>
        </p:nvPicPr>
        <p:blipFill>
          <a:blip r:embed="rId5"/>
          <a:stretch/>
        </p:blipFill>
        <p:spPr>
          <a:xfrm>
            <a:off x="264600" y="6172200"/>
            <a:ext cx="8465400" cy="940680"/>
          </a:xfrm>
          <a:prstGeom prst="rect">
            <a:avLst/>
          </a:prstGeom>
          <a:ln w="0">
            <a:noFill/>
          </a:ln>
        </p:spPr>
      </p:pic>
      <p:sp>
        <p:nvSpPr>
          <p:cNvPr id="326" name=""/>
          <p:cNvSpPr/>
          <p:nvPr/>
        </p:nvSpPr>
        <p:spPr>
          <a:xfrm>
            <a:off x="8731440" y="4800600"/>
            <a:ext cx="1269000" cy="60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Deploy the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app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27" name=""/>
          <p:cNvSpPr/>
          <p:nvPr/>
        </p:nvSpPr>
        <p:spPr>
          <a:xfrm>
            <a:off x="8627400" y="6400800"/>
            <a:ext cx="152352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See the pods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457200" y="-178200"/>
            <a:ext cx="9070200" cy="12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latin typeface="Arial"/>
              </a:rPr>
              <a:t>Test the running application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329" name="" descr=""/>
          <p:cNvPicPr/>
          <p:nvPr/>
        </p:nvPicPr>
        <p:blipFill>
          <a:blip r:embed="rId1"/>
          <a:stretch/>
        </p:blipFill>
        <p:spPr>
          <a:xfrm>
            <a:off x="3429000" y="3886200"/>
            <a:ext cx="3093840" cy="912600"/>
          </a:xfrm>
          <a:prstGeom prst="rect">
            <a:avLst/>
          </a:prstGeom>
          <a:ln w="0">
            <a:solidFill>
              <a:srgbClr val="3465a4"/>
            </a:solidFill>
          </a:ln>
        </p:spPr>
      </p:pic>
      <p:pic>
        <p:nvPicPr>
          <p:cNvPr id="330" name="" descr=""/>
          <p:cNvPicPr/>
          <p:nvPr/>
        </p:nvPicPr>
        <p:blipFill>
          <a:blip r:embed="rId2"/>
          <a:stretch/>
        </p:blipFill>
        <p:spPr>
          <a:xfrm>
            <a:off x="848160" y="1600200"/>
            <a:ext cx="8751600" cy="1188720"/>
          </a:xfrm>
          <a:prstGeom prst="rect">
            <a:avLst/>
          </a:prstGeom>
          <a:ln w="0">
            <a:noFill/>
          </a:ln>
        </p:spPr>
      </p:pic>
      <p:sp>
        <p:nvSpPr>
          <p:cNvPr id="331" name=""/>
          <p:cNvSpPr/>
          <p:nvPr/>
        </p:nvSpPr>
        <p:spPr>
          <a:xfrm>
            <a:off x="4194720" y="3383280"/>
            <a:ext cx="15188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Web browser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32" name=""/>
          <p:cNvSpPr/>
          <p:nvPr/>
        </p:nvSpPr>
        <p:spPr>
          <a:xfrm>
            <a:off x="2012400" y="5029200"/>
            <a:ext cx="581184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Note: No data stored in database, hence table is empty!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33" name=""/>
          <p:cNvSpPr/>
          <p:nvPr/>
        </p:nvSpPr>
        <p:spPr>
          <a:xfrm rot="832200">
            <a:off x="5999400" y="2705040"/>
            <a:ext cx="118800" cy="11412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5400" y="0"/>
                </a:moveTo>
                <a:lnTo>
                  <a:pt x="5400" y="16200"/>
                </a:lnTo>
                <a:lnTo>
                  <a:pt x="0" y="16200"/>
                </a:lnTo>
                <a:lnTo>
                  <a:pt x="10800" y="21600"/>
                </a:lnTo>
                <a:lnTo>
                  <a:pt x="21600" y="16200"/>
                </a:lnTo>
                <a:lnTo>
                  <a:pt x="16200" y="16200"/>
                </a:lnTo>
                <a:lnTo>
                  <a:pt x="16200" y="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504000" y="-130680"/>
            <a:ext cx="9070200" cy="12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latin typeface="Arial"/>
              </a:rPr>
              <a:t>Monitoring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335" name="" descr=""/>
          <p:cNvPicPr/>
          <p:nvPr/>
        </p:nvPicPr>
        <p:blipFill>
          <a:blip r:embed="rId1"/>
          <a:stretch/>
        </p:blipFill>
        <p:spPr>
          <a:xfrm>
            <a:off x="8640" y="1485720"/>
            <a:ext cx="10078560" cy="4625280"/>
          </a:xfrm>
          <a:prstGeom prst="rect">
            <a:avLst/>
          </a:prstGeom>
          <a:ln w="0">
            <a:solidFill>
              <a:srgbClr val="3465a4"/>
            </a:solidFill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504000" y="-94680"/>
            <a:ext cx="9070200" cy="12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latin typeface="Arial"/>
              </a:rPr>
              <a:t>Monitoring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337" name="" descr=""/>
          <p:cNvPicPr/>
          <p:nvPr/>
        </p:nvPicPr>
        <p:blipFill>
          <a:blip r:embed="rId1"/>
          <a:stretch/>
        </p:blipFill>
        <p:spPr>
          <a:xfrm>
            <a:off x="8640" y="1388160"/>
            <a:ext cx="10078560" cy="5679360"/>
          </a:xfrm>
          <a:prstGeom prst="rect">
            <a:avLst/>
          </a:prstGeom>
          <a:ln w="0">
            <a:solidFill>
              <a:srgbClr val="3465a4"/>
            </a:solidFill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" descr=""/>
          <p:cNvPicPr/>
          <p:nvPr/>
        </p:nvPicPr>
        <p:blipFill>
          <a:blip r:embed="rId1"/>
          <a:stretch/>
        </p:blipFill>
        <p:spPr>
          <a:xfrm>
            <a:off x="123840" y="1371600"/>
            <a:ext cx="9758160" cy="5028120"/>
          </a:xfrm>
          <a:prstGeom prst="rect">
            <a:avLst/>
          </a:prstGeom>
          <a:ln w="0">
            <a:solidFill>
              <a:srgbClr val="3465a4"/>
            </a:solidFill>
          </a:ln>
        </p:spPr>
      </p:pic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457200" y="-118800"/>
            <a:ext cx="9070920" cy="126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latin typeface="Arial"/>
              </a:rPr>
              <a:t>Nodes and utilization graphs</a:t>
            </a:r>
            <a:endParaRPr b="0" lang="en-US" sz="4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CustomShape 3"/>
          <p:cNvSpPr/>
          <p:nvPr/>
        </p:nvSpPr>
        <p:spPr>
          <a:xfrm>
            <a:off x="504000" y="301320"/>
            <a:ext cx="9058680" cy="62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  <a:ea typeface="DejaVu Sans"/>
              </a:rPr>
              <a:t>Questions?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41" name="CustomShape 6"/>
          <p:cNvSpPr/>
          <p:nvPr/>
        </p:nvSpPr>
        <p:spPr>
          <a:xfrm>
            <a:off x="548640" y="1280160"/>
            <a:ext cx="9014040" cy="42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Bef>
                <a:spcPts val="1417"/>
              </a:spcBef>
              <a:buNone/>
            </a:pPr>
            <a:endParaRPr b="0" lang="en-US" sz="1800" spc="-1" strike="noStrike">
              <a:latin typeface="Arial"/>
            </a:endParaRPr>
          </a:p>
          <a:p>
            <a:pPr lvl="1" marL="432000" indent="-2134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66cc"/>
                </a:solidFill>
                <a:latin typeface="Arial"/>
                <a:ea typeface="DejaVu Sans"/>
              </a:rPr>
              <a:t>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342" name="CustomShape 7"/>
          <p:cNvSpPr/>
          <p:nvPr/>
        </p:nvSpPr>
        <p:spPr>
          <a:xfrm rot="21576000">
            <a:off x="279000" y="1025640"/>
            <a:ext cx="9406440" cy="495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43" name="" descr=""/>
          <p:cNvPicPr/>
          <p:nvPr/>
        </p:nvPicPr>
        <p:blipFill>
          <a:blip r:embed="rId1"/>
          <a:stretch/>
        </p:blipFill>
        <p:spPr>
          <a:xfrm>
            <a:off x="2882520" y="1495440"/>
            <a:ext cx="4388040" cy="461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4649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2023-02-28T13:33:50Z</dcterms:created>
  <dc:creator/>
  <dc:description/>
  <dc:language>en-US</dc:language>
  <cp:lastModifiedBy/>
  <dcterms:modified xsi:type="dcterms:W3CDTF">2024-04-22T14:43:12Z</dcterms:modified>
  <cp:revision>588</cp:revision>
  <dc:subject/>
  <dc:title>Blue Curve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