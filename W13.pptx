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4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2.xml" ContentType="application/vnd.openxmlformats-officedocument.presentationml.slideMaster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heme/theme49.xml" ContentType="application/vnd.openxmlformats-officedocument.theme+xml"/>
  <Override PartName="/ppt/theme/theme17.xml" ContentType="application/vnd.openxmlformats-officedocument.theme+xml"/>
  <Override PartName="/ppt/theme/theme36.xml" ContentType="application/vnd.openxmlformats-officedocument.theme+xml"/>
  <Override PartName="/ppt/theme/theme11.xml" ContentType="application/vnd.openxmlformats-officedocument.theme+xml"/>
  <Override PartName="/ppt/theme/theme43.xml" ContentType="application/vnd.openxmlformats-officedocument.theme+xml"/>
  <Override PartName="/ppt/theme/theme1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38.xml" ContentType="application/vnd.openxmlformats-officedocument.theme+xml"/>
  <Override PartName="/ppt/theme/theme60.xml" ContentType="application/vnd.openxmlformats-officedocument.theme+xml"/>
  <Override PartName="/ppt/theme/theme26.xml" ContentType="application/vnd.openxmlformats-officedocument.theme+xml"/>
  <Override PartName="/ppt/theme/theme19.xml" ContentType="application/vnd.openxmlformats-officedocument.theme+xml"/>
  <Override PartName="/ppt/theme/theme25.xml" ContentType="application/vnd.openxmlformats-officedocument.theme+xml"/>
  <Override PartName="/ppt/theme/theme55.xml" ContentType="application/vnd.openxmlformats-officedocument.theme+xml"/>
  <Override PartName="/ppt/theme/theme59.xml" ContentType="application/vnd.openxmlformats-officedocument.theme+xml"/>
  <Override PartName="/ppt/theme/theme48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23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10.xml" ContentType="application/vnd.openxmlformats-officedocument.theme+xml"/>
  <Override PartName="/ppt/theme/theme24.xml" ContentType="application/vnd.openxmlformats-officedocument.theme+xml"/>
  <Override PartName="/ppt/theme/theme22.xml" ContentType="application/vnd.openxmlformats-officedocument.theme+xml"/>
  <Override PartName="/ppt/theme/theme7.xml" ContentType="application/vnd.openxmlformats-officedocument.theme+xml"/>
  <Override PartName="/ppt/theme/theme20.xml" ContentType="application/vnd.openxmlformats-officedocument.theme+xml"/>
  <Override PartName="/ppt/theme/theme33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57.xml" ContentType="application/vnd.openxmlformats-officedocument.theme+xml"/>
  <Override PartName="/ppt/theme/theme18.xml" ContentType="application/vnd.openxmlformats-officedocument.theme+xml"/>
  <Override PartName="/ppt/theme/theme31.xml" ContentType="application/vnd.openxmlformats-officedocument.theme+xml"/>
  <Override PartName="/ppt/theme/theme14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7.xml" ContentType="application/vnd.openxmlformats-officedocument.theme+xml"/>
  <Override PartName="/ppt/theme/theme15.xml" ContentType="application/vnd.openxmlformats-officedocument.theme+xml"/>
  <Override PartName="/ppt/theme/theme6.xml" ContentType="application/vnd.openxmlformats-officedocument.theme+xml"/>
  <Override PartName="/ppt/theme/theme35.xml" ContentType="application/vnd.openxmlformats-officedocument.theme+xml"/>
  <Override PartName="/ppt/theme/theme34.xml" ContentType="application/vnd.openxmlformats-officedocument.theme+xml"/>
  <Override PartName="/ppt/theme/theme9.xml" ContentType="application/vnd.openxmlformats-officedocument.theme+xml"/>
  <Override PartName="/ppt/theme/theme42.xml" ContentType="application/vnd.openxmlformats-officedocument.theme+xml"/>
  <Override PartName="/ppt/theme/theme8.xml" ContentType="application/vnd.openxmlformats-officedocument.theme+xml"/>
  <Override PartName="/ppt/theme/theme37.xml" ContentType="application/vnd.openxmlformats-officedocument.theme+xml"/>
  <Override PartName="/ppt/theme/theme21.xml" ContentType="application/vnd.openxmlformats-officedocument.theme+xml"/>
  <Override PartName="/ppt/theme/theme40.xml" ContentType="application/vnd.openxmlformats-officedocument.theme+xml"/>
  <Override PartName="/ppt/theme/theme45.xml" ContentType="application/vnd.openxmlformats-officedocument.theme+xml"/>
  <Override PartName="/ppt/theme/theme41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44.xml" ContentType="application/vnd.openxmlformats-officedocument.theme+xml"/>
  <Override PartName="/ppt/theme/theme13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3.xml" ContentType="application/vnd.openxmlformats-officedocument.theme+xml"/>
  <Override PartName="/ppt/theme/theme39.xml" ContentType="application/vnd.openxmlformats-officedocument.theme+xml"/>
  <Override PartName="/ppt/theme/theme5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62" r:id="rId55"/>
    <p:sldMasterId id="2147483764" r:id="rId56"/>
    <p:sldMasterId id="2147483766" r:id="rId57"/>
    <p:sldMasterId id="2147483768" r:id="rId58"/>
    <p:sldMasterId id="2147483770" r:id="rId59"/>
    <p:sldMasterId id="2147483772" r:id="rId60"/>
    <p:sldMasterId id="2147483774" r:id="rId61"/>
  </p:sldMasterIdLst>
  <p:sldIdLst>
    <p:sldId id="256" r:id="rId62"/>
    <p:sldId id="257" r:id="rId63"/>
    <p:sldId id="258" r:id="rId64"/>
    <p:sldId id="259" r:id="rId65"/>
    <p:sldId id="260" r:id="rId66"/>
    <p:sldId id="261" r:id="rId67"/>
    <p:sldId id="262" r:id="rId68"/>
    <p:sldId id="263" r:id="rId69"/>
    <p:sldId id="264" r:id="rId70"/>
    <p:sldId id="265" r:id="rId71"/>
    <p:sldId id="266" r:id="rId72"/>
    <p:sldId id="267" r:id="rId73"/>
    <p:sldId id="268" r:id="rId74"/>
    <p:sldId id="269" r:id="rId7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Relationship Id="rId72" Type="http://schemas.openxmlformats.org/officeDocument/2006/relationships/slide" Target="slides/slide11.xml"/><Relationship Id="rId73" Type="http://schemas.openxmlformats.org/officeDocument/2006/relationships/slide" Target="slides/slide12.xml"/><Relationship Id="rId74" Type="http://schemas.openxmlformats.org/officeDocument/2006/relationships/slide" Target="slides/slide13.xml"/><Relationship Id="rId75" Type="http://schemas.openxmlformats.org/officeDocument/2006/relationships/slide" Target="slides/slide14.xml"/><Relationship Id="rId7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65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66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67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4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2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6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0" y="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8" name="CustomShape 2"/>
          <p:cNvSpPr/>
          <p:nvPr/>
        </p:nvSpPr>
        <p:spPr>
          <a:xfrm>
            <a:off x="0" y="6620400"/>
            <a:ext cx="10064160" cy="9291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987480" y="1828800"/>
            <a:ext cx="8144640" cy="43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SWE 304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5983b0"/>
                </a:solidFill>
                <a:effectLst/>
                <a:uFillTx/>
                <a:latin typeface="Arial"/>
                <a:ea typeface="DejaVu Sans"/>
              </a:rPr>
              <a:t>Development and Operations</a:t>
            </a:r>
            <a:br>
              <a:rPr sz="1800"/>
            </a:br>
            <a:r>
              <a:rPr lang="en-US" sz="4400" b="1" u="none" strike="noStrike">
                <a:solidFill>
                  <a:srgbClr val="5983b0"/>
                </a:solidFill>
                <a:effectLst/>
                <a:uFillTx/>
                <a:latin typeface="Arial"/>
                <a:ea typeface="DejaVu Sans"/>
              </a:rPr>
              <a:t>DevOps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6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Week – 13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355269"/>
                </a:solidFill>
                <a:effectLst/>
                <a:uFillTx/>
                <a:latin typeface="Arial"/>
                <a:ea typeface="DejaVu Sans"/>
              </a:rPr>
              <a:t>Kubernetes -Local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Ahmet Özmen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504000" y="301320"/>
            <a:ext cx="905904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Overview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CustomShape 2"/>
          <p:cNvSpPr/>
          <p:nvPr/>
        </p:nvSpPr>
        <p:spPr>
          <a:xfrm>
            <a:off x="548640" y="1371600"/>
            <a:ext cx="9059040" cy="43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Objectives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Motivations behind container orchastration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Kubernetes, Minikube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Examples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CustomShape 1"/>
          <p:cNvSpPr/>
          <p:nvPr/>
        </p:nvSpPr>
        <p:spPr>
          <a:xfrm>
            <a:off x="504000" y="193320"/>
            <a:ext cx="905904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Objectives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CustomShape 2"/>
          <p:cNvSpPr/>
          <p:nvPr/>
        </p:nvSpPr>
        <p:spPr>
          <a:xfrm>
            <a:off x="438120" y="1139040"/>
            <a:ext cx="9059040" cy="43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Who took this course can (should) answer the following questions: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How to deploy containerized applications using Kubernetes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Scalability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529200" y="-239400"/>
            <a:ext cx="906912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Kubernetes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554040" y="6629400"/>
            <a:ext cx="893628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(https://kubernetes.io/docs/concepts/overview/components/#:~:text=A%20Kubernetes%20cluster%20consists%20of%20a%20set%20of%20worker%20machines,the%20Pods%20in%20the%20cluster.)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"/>
          <p:cNvPicPr/>
          <p:nvPr/>
        </p:nvPicPr>
        <p:blipFill>
          <a:blip r:embed="rId1"/>
          <a:stretch/>
        </p:blipFill>
        <p:spPr>
          <a:xfrm>
            <a:off x="222120" y="1318320"/>
            <a:ext cx="9605520" cy="485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529560" y="-22860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of example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1143000" y="2368800"/>
            <a:ext cx="3884040" cy="3655440"/>
          </a:xfrm>
          <a:prstGeom prst="rect">
            <a:avLst/>
          </a:prstGeom>
          <a:noFill/>
          <a:ln w="0">
            <a:solidFill>
              <a:srgbClr val="ff4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7" name=""/>
          <p:cNvSpPr/>
          <p:nvPr/>
        </p:nvSpPr>
        <p:spPr>
          <a:xfrm>
            <a:off x="1143000" y="2368800"/>
            <a:ext cx="3884040" cy="1140840"/>
          </a:xfrm>
          <a:prstGeom prst="rect">
            <a:avLst/>
          </a:prstGeom>
          <a:noFill/>
          <a:ln w="0">
            <a:solidFill>
              <a:srgbClr val="2a60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8" name=""/>
          <p:cNvSpPr/>
          <p:nvPr/>
        </p:nvSpPr>
        <p:spPr>
          <a:xfrm>
            <a:off x="2291040" y="2768760"/>
            <a:ext cx="18216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Webapp-service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1143000" y="2741400"/>
            <a:ext cx="3886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0" name=""/>
          <p:cNvSpPr/>
          <p:nvPr/>
        </p:nvSpPr>
        <p:spPr>
          <a:xfrm>
            <a:off x="3655800" y="2368800"/>
            <a:ext cx="1800" cy="372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1" name=""/>
          <p:cNvSpPr/>
          <p:nvPr/>
        </p:nvSpPr>
        <p:spPr>
          <a:xfrm>
            <a:off x="1217880" y="2395080"/>
            <a:ext cx="2435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 Ip: 192.168.49.2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3649320" y="2422440"/>
            <a:ext cx="135828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Port: 31000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1600200" y="3740400"/>
            <a:ext cx="2741040" cy="21632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4" name=""/>
          <p:cNvSpPr/>
          <p:nvPr/>
        </p:nvSpPr>
        <p:spPr>
          <a:xfrm>
            <a:off x="1257840" y="3115080"/>
            <a:ext cx="19404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Selector: webapp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flipV="1">
            <a:off x="1600200" y="4185000"/>
            <a:ext cx="2743200" cy="12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6" name=""/>
          <p:cNvSpPr/>
          <p:nvPr/>
        </p:nvSpPr>
        <p:spPr>
          <a:xfrm>
            <a:off x="2129400" y="3802680"/>
            <a:ext cx="15732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Pod: webapp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2286000" y="4426200"/>
            <a:ext cx="1369440" cy="11408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8" name=""/>
          <p:cNvSpPr/>
          <p:nvPr/>
        </p:nvSpPr>
        <p:spPr>
          <a:xfrm>
            <a:off x="5257800" y="2404800"/>
            <a:ext cx="3884040" cy="3655440"/>
          </a:xfrm>
          <a:prstGeom prst="rect">
            <a:avLst/>
          </a:prstGeom>
          <a:noFill/>
          <a:ln w="0">
            <a:solidFill>
              <a:srgbClr val="ff4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9" name=""/>
          <p:cNvSpPr/>
          <p:nvPr/>
        </p:nvSpPr>
        <p:spPr>
          <a:xfrm>
            <a:off x="5257800" y="2404800"/>
            <a:ext cx="3884040" cy="1140840"/>
          </a:xfrm>
          <a:prstGeom prst="rect">
            <a:avLst/>
          </a:prstGeom>
          <a:noFill/>
          <a:ln w="0">
            <a:solidFill>
              <a:srgbClr val="2a609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0" name=""/>
          <p:cNvSpPr/>
          <p:nvPr/>
        </p:nvSpPr>
        <p:spPr>
          <a:xfrm>
            <a:off x="6767280" y="2804760"/>
            <a:ext cx="15732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mysql-service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5257800" y="2777400"/>
            <a:ext cx="3886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2" name=""/>
          <p:cNvSpPr/>
          <p:nvPr/>
        </p:nvSpPr>
        <p:spPr>
          <a:xfrm>
            <a:off x="7950600" y="2404800"/>
            <a:ext cx="1800" cy="372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3" name=""/>
          <p:cNvSpPr/>
          <p:nvPr/>
        </p:nvSpPr>
        <p:spPr>
          <a:xfrm>
            <a:off x="5237640" y="2430000"/>
            <a:ext cx="27403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Cluster Ip: 10.101.198.19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7872120" y="2422440"/>
            <a:ext cx="12315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Port: 3306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5715000" y="3776400"/>
            <a:ext cx="2741040" cy="21632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6" name=""/>
          <p:cNvSpPr/>
          <p:nvPr/>
        </p:nvSpPr>
        <p:spPr>
          <a:xfrm>
            <a:off x="5372640" y="3151080"/>
            <a:ext cx="17391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Selector: mysql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flipV="1">
            <a:off x="5715000" y="4221000"/>
            <a:ext cx="2743200" cy="126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8" name=""/>
          <p:cNvSpPr/>
          <p:nvPr/>
        </p:nvSpPr>
        <p:spPr>
          <a:xfrm>
            <a:off x="6244200" y="3838680"/>
            <a:ext cx="13719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Pod: mysql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6400800" y="4462200"/>
            <a:ext cx="1369440" cy="11408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"/>
          <p:cNvSpPr/>
          <p:nvPr/>
        </p:nvSpPr>
        <p:spPr>
          <a:xfrm>
            <a:off x="914400" y="1371600"/>
            <a:ext cx="8456040" cy="5027040"/>
          </a:xfrm>
          <a:prstGeom prst="rect">
            <a:avLst/>
          </a:prstGeom>
          <a:noFill/>
          <a:ln w="19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1" name=""/>
          <p:cNvSpPr/>
          <p:nvPr/>
        </p:nvSpPr>
        <p:spPr>
          <a:xfrm>
            <a:off x="914400" y="2057400"/>
            <a:ext cx="8458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2" name=""/>
          <p:cNvSpPr/>
          <p:nvPr/>
        </p:nvSpPr>
        <p:spPr>
          <a:xfrm>
            <a:off x="1882080" y="1482480"/>
            <a:ext cx="29448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 Ip: 192.168.49.2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7013160" y="1528200"/>
            <a:ext cx="16232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Port: 31000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5943600" y="1371600"/>
            <a:ext cx="36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web application with DB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"/>
          <p:cNvPicPr/>
          <p:nvPr/>
        </p:nvPicPr>
        <p:blipFill>
          <a:blip r:embed="rId1"/>
          <a:stretch/>
        </p:blipFill>
        <p:spPr>
          <a:xfrm>
            <a:off x="781560" y="914400"/>
            <a:ext cx="8360280" cy="58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>
            <a:off x="504360" y="-130680"/>
            <a:ext cx="9069480" cy="12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Example web application with DB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"/>
          <p:cNvPicPr/>
          <p:nvPr/>
        </p:nvPicPr>
        <p:blipFill>
          <a:blip r:embed="rId1"/>
          <a:stretch/>
        </p:blipFill>
        <p:spPr>
          <a:xfrm>
            <a:off x="156600" y="986400"/>
            <a:ext cx="7445880" cy="145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"/>
          <p:cNvPicPr/>
          <p:nvPr/>
        </p:nvPicPr>
        <p:blipFill>
          <a:blip r:embed="rId2"/>
          <a:stretch/>
        </p:blipFill>
        <p:spPr>
          <a:xfrm>
            <a:off x="6048720" y="2057400"/>
            <a:ext cx="3778920" cy="518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"/>
          <p:cNvPicPr/>
          <p:nvPr/>
        </p:nvPicPr>
        <p:blipFill>
          <a:blip r:embed="rId3"/>
          <a:stretch/>
        </p:blipFill>
        <p:spPr>
          <a:xfrm>
            <a:off x="448200" y="3657600"/>
            <a:ext cx="4350240" cy="112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04000" y="-9468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Mysql deployment and service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"/>
          <p:cNvPicPr/>
          <p:nvPr/>
        </p:nvPicPr>
        <p:blipFill>
          <a:blip r:embed="rId1"/>
          <a:stretch/>
        </p:blipFill>
        <p:spPr>
          <a:xfrm>
            <a:off x="1371600" y="1371600"/>
            <a:ext cx="2350080" cy="292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"/>
          <p:cNvPicPr/>
          <p:nvPr/>
        </p:nvPicPr>
        <p:blipFill>
          <a:blip r:embed="rId2"/>
          <a:stretch/>
        </p:blipFill>
        <p:spPr>
          <a:xfrm>
            <a:off x="4800600" y="1105200"/>
            <a:ext cx="4007520" cy="575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504000" y="-9468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Webapp deployment and service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5" name=""/>
          <p:cNvPicPr/>
          <p:nvPr/>
        </p:nvPicPr>
        <p:blipFill>
          <a:blip r:embed="rId1"/>
          <a:stretch/>
        </p:blipFill>
        <p:spPr>
          <a:xfrm>
            <a:off x="4867560" y="914400"/>
            <a:ext cx="4274280" cy="652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"/>
          <p:cNvPicPr/>
          <p:nvPr/>
        </p:nvPicPr>
        <p:blipFill>
          <a:blip r:embed="rId2"/>
          <a:stretch/>
        </p:blipFill>
        <p:spPr>
          <a:xfrm>
            <a:off x="1371600" y="1400400"/>
            <a:ext cx="2445480" cy="271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 startup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"/>
          <p:cNvPicPr/>
          <p:nvPr/>
        </p:nvPicPr>
        <p:blipFill>
          <a:blip r:embed="rId1"/>
          <a:stretch/>
        </p:blipFill>
        <p:spPr>
          <a:xfrm>
            <a:off x="0" y="1579680"/>
            <a:ext cx="10078200" cy="41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529560" y="-11844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the application (2023)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0" name=""/>
          <p:cNvPicPr/>
          <p:nvPr/>
        </p:nvPicPr>
        <p:blipFill>
          <a:blip r:embed="rId1"/>
          <a:stretch/>
        </p:blipFill>
        <p:spPr>
          <a:xfrm>
            <a:off x="6120" y="1391760"/>
            <a:ext cx="10078200" cy="455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"/>
          <p:cNvPicPr/>
          <p:nvPr/>
        </p:nvPicPr>
        <p:blipFill>
          <a:blip r:embed="rId1"/>
          <a:stretch/>
        </p:blipFill>
        <p:spPr>
          <a:xfrm>
            <a:off x="77400" y="1371600"/>
            <a:ext cx="9751680" cy="41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529200" y="-2286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2024 Example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2024 example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"/>
          <p:cNvPicPr/>
          <p:nvPr/>
        </p:nvPicPr>
        <p:blipFill>
          <a:blip r:embed="rId1"/>
          <a:stretch/>
        </p:blipFill>
        <p:spPr>
          <a:xfrm>
            <a:off x="136440" y="1067040"/>
            <a:ext cx="9885960" cy="548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CustomShape 3"/>
          <p:cNvSpPr/>
          <p:nvPr/>
        </p:nvSpPr>
        <p:spPr>
          <a:xfrm>
            <a:off x="504000" y="301320"/>
            <a:ext cx="905904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548640" y="1280160"/>
            <a:ext cx="9014400" cy="42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3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 rot="21576000">
            <a:off x="279360" y="1026000"/>
            <a:ext cx="9406800" cy="49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98" name=""/>
          <p:cNvPicPr/>
          <p:nvPr/>
        </p:nvPicPr>
        <p:blipFill>
          <a:blip r:embed="rId1"/>
          <a:stretch/>
        </p:blipFill>
        <p:spPr>
          <a:xfrm>
            <a:off x="2882520" y="1495440"/>
            <a:ext cx="4388400" cy="461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4586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2023-02-28T13:33:50Z</dcterms:created>
  <dc:creator/>
  <dc:description/>
  <dc:language>en-US</dc:language>
  <cp:lastModifiedBy/>
  <dcterms:modified xsi:type="dcterms:W3CDTF">2026-05-06T14:09:55Z</dcterms:modified>
  <cp:revision>568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